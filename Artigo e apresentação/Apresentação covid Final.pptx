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87" d="100"/>
          <a:sy n="187" d="100"/>
        </p:scale>
        <p:origin x="138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0169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875667"/>
            <a:ext cx="8001000" cy="1783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CLASSIFICAÇÃO DE TOMOGRAFIAS COMPUTADORIZADAS PARA DETECÇÃO DE COVID-19 UTILIZANDO REDES NEURAIS CONVOLUCIONAIS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2908734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2CC"/>
                </a:solidFill>
              </a:rPr>
              <a:t>Uma Abordagem de Deep Learning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1500188" y="3285567"/>
            <a:ext cx="32861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2C3E50"/>
                </a:solidFill>
              </a:rPr>
              <a:t>Autores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1500188" y="3478448"/>
            <a:ext cx="1600200" cy="260747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Pedro Ramos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3186113" y="3478448"/>
            <a:ext cx="1600200" cy="260747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Guilherme Niza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1500188" y="3824920"/>
            <a:ext cx="1600200" cy="260747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Diogo Souza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3186113" y="3824920"/>
            <a:ext cx="1600200" cy="260747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Naoki Kozakai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5072063" y="3371292"/>
            <a:ext cx="2571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CENTRO UNIVERSITÁRIO SENAC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5072063" y="3583818"/>
            <a:ext cx="257175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Pós-Graduação em Especialização em Inteligência Artificial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5072063" y="3898143"/>
            <a:ext cx="2571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Disciplina: Machine Learning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5072063" y="4076737"/>
            <a:ext cx="2571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Professor: Raphael Cobe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5072063" y="4283906"/>
            <a:ext cx="25717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i="1" dirty="0">
                <a:solidFill>
                  <a:srgbClr val="2C3E50"/>
                </a:solidFill>
              </a:rPr>
              <a:t>São Paulo – SP, 2025</a:t>
            </a:r>
            <a:endParaRPr lang="en-US" sz="67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2925" y="1121290"/>
            <a:ext cx="3671329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O Desafio da COVID-19 e o Apoio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418453"/>
            <a:ext cx="58888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da IA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428625" y="1938858"/>
            <a:ext cx="400050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1.</a:t>
            </a:r>
            <a:r>
              <a:rPr lang="en-US" sz="834" dirty="0">
                <a:solidFill>
                  <a:srgbClr val="2C3E50"/>
                </a:solidFill>
              </a:rPr>
              <a:t>A pandemia da COVID-19 impôs um desafio global, exigindo métodos de diagnóstico rápidos e eficazes para controle e tratamento adequado dos pacientes.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428625" y="2630323"/>
            <a:ext cx="400050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2.</a:t>
            </a:r>
            <a:r>
              <a:rPr lang="en-US" sz="834" dirty="0">
                <a:solidFill>
                  <a:srgbClr val="2C3E50"/>
                </a:solidFill>
              </a:rPr>
              <a:t>A Tomografia Computadorizada (TC) do tórax emergiu como uma ferramenta de imagem crucial, capaz de identificar padrões pulmonares característicos da doença, como opacidades em vidro fosco.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428625" y="3321788"/>
            <a:ext cx="400050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3.</a:t>
            </a:r>
            <a:r>
              <a:rPr lang="en-US" sz="834" dirty="0">
                <a:solidFill>
                  <a:srgbClr val="2C3E50"/>
                </a:solidFill>
              </a:rPr>
              <a:t>A Inteligência Artificial, especificamente o Machine Learning, oferece um caminho promissor para automatizar e otimizar a análise dessas imagens médicas em larga escala.</a:t>
            </a:r>
            <a:endParaRPr lang="en-US" sz="784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1445912"/>
            <a:ext cx="4000500" cy="22516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72456" y="1359517"/>
            <a:ext cx="5199059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Classificação Automatizada de Imagens de TC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1357313" y="2013868"/>
            <a:ext cx="357188" cy="357188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1357313" y="2013868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1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1857375" y="2013868"/>
            <a:ext cx="5929313" cy="447154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Desenvolver um modelo de </a:t>
            </a:r>
            <a:r>
              <a:rPr lang="en-US" sz="885" b="1" dirty="0">
                <a:solidFill>
                  <a:srgbClr val="1A1A1A"/>
                </a:solidFill>
              </a:rPr>
              <a:t>Machine Learning</a:t>
            </a:r>
            <a:r>
              <a:rPr lang="en-US" sz="942" dirty="0">
                <a:solidFill>
                  <a:srgbClr val="2C3E50"/>
                </a:solidFill>
              </a:rPr>
              <a:t> capaz de classificar imagens de tomografia computadorizada do tórax de forma automatizada e precisa.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1357313" y="2675334"/>
            <a:ext cx="357188" cy="357188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357313" y="2675334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2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1857375" y="2675334"/>
            <a:ext cx="5929313" cy="447154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O modelo deve distinguir de forma </a:t>
            </a:r>
            <a:r>
              <a:rPr lang="en-US" sz="885" b="1" dirty="0">
                <a:solidFill>
                  <a:srgbClr val="1A1A1A"/>
                </a:solidFill>
              </a:rPr>
              <a:t>binária</a:t>
            </a:r>
            <a:r>
              <a:rPr lang="en-US" sz="942" dirty="0">
                <a:solidFill>
                  <a:srgbClr val="2C3E50"/>
                </a:solidFill>
              </a:rPr>
              <a:t> entre casos de </a:t>
            </a:r>
            <a:r>
              <a:rPr lang="en-US" sz="885" b="1" dirty="0">
                <a:solidFill>
                  <a:srgbClr val="1A1A1A"/>
                </a:solidFill>
              </a:rPr>
              <a:t>COVID-19</a:t>
            </a:r>
            <a:r>
              <a:rPr lang="en-US" sz="942" dirty="0">
                <a:solidFill>
                  <a:srgbClr val="2C3E50"/>
                </a:solidFill>
              </a:rPr>
              <a:t> e </a:t>
            </a:r>
            <a:r>
              <a:rPr lang="en-US" sz="885" b="1" dirty="0">
                <a:solidFill>
                  <a:srgbClr val="1A1A1A"/>
                </a:solidFill>
              </a:rPr>
              <a:t>Não-COVID</a:t>
            </a:r>
            <a:r>
              <a:rPr lang="en-US" sz="942" dirty="0">
                <a:solidFill>
                  <a:srgbClr val="2C3E50"/>
                </a:solidFill>
              </a:rPr>
              <a:t>, com alta acurácia e confiabilidade.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1357313" y="3336801"/>
            <a:ext cx="357188" cy="357188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357313" y="333680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3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1857375" y="3336801"/>
            <a:ext cx="5929313" cy="447154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Criar uma </a:t>
            </a:r>
            <a:r>
              <a:rPr lang="en-US" sz="885" b="1" dirty="0">
                <a:solidFill>
                  <a:srgbClr val="1A1A1A"/>
                </a:solidFill>
              </a:rPr>
              <a:t>ferramenta de apoio à decisão clínica</a:t>
            </a:r>
            <a:r>
              <a:rPr lang="en-US" sz="942" dirty="0">
                <a:solidFill>
                  <a:srgbClr val="2C3E50"/>
                </a:solidFill>
              </a:rPr>
              <a:t> (CAD - Computer-Aided Diagnosis) que auxilie radiologistas e médicos no diagnóstico rápido e preciso.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723792"/>
            <a:ext cx="82867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Fluxo de Trabalho do Projeto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1000125" y="2378143"/>
            <a:ext cx="428625" cy="428625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1000125" y="2378143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1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662304" y="2913924"/>
            <a:ext cx="1104267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Aquisição de Dados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428625" y="3119642"/>
            <a:ext cx="15716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SARS-CoV-2 CT-Scan Dataset (Kaggle)</a:t>
            </a:r>
            <a:endParaRPr lang="en-US" sz="727" dirty="0"/>
          </a:p>
        </p:txBody>
      </p:sp>
      <p:sp>
        <p:nvSpPr>
          <p:cNvPr id="8" name="Shape 5"/>
          <p:cNvSpPr/>
          <p:nvPr/>
        </p:nvSpPr>
        <p:spPr>
          <a:xfrm>
            <a:off x="2014538" y="2592456"/>
            <a:ext cx="142875" cy="14288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2678906" y="2378143"/>
            <a:ext cx="428625" cy="428625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2678906" y="2378143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2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2341866" y="2913924"/>
            <a:ext cx="1102677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Pré-processamento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2107406" y="3119642"/>
            <a:ext cx="15716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Normalização e redimensionamento de imagens</a:t>
            </a:r>
            <a:endParaRPr lang="en-US" sz="727" dirty="0"/>
          </a:p>
        </p:txBody>
      </p:sp>
      <p:sp>
        <p:nvSpPr>
          <p:cNvPr id="13" name="Shape 10"/>
          <p:cNvSpPr/>
          <p:nvPr/>
        </p:nvSpPr>
        <p:spPr>
          <a:xfrm>
            <a:off x="3693319" y="2592456"/>
            <a:ext cx="142875" cy="14288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4357688" y="2378143"/>
            <a:ext cx="428625" cy="428625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4357688" y="2378143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3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4005914" y="2913924"/>
            <a:ext cx="113214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Data Augmentation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3786188" y="3119642"/>
            <a:ext cx="15716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Transformações para aumentar robustez</a:t>
            </a:r>
            <a:endParaRPr lang="en-US" sz="727" dirty="0"/>
          </a:p>
        </p:txBody>
      </p:sp>
      <p:sp>
        <p:nvSpPr>
          <p:cNvPr id="18" name="Shape 15"/>
          <p:cNvSpPr/>
          <p:nvPr/>
        </p:nvSpPr>
        <p:spPr>
          <a:xfrm>
            <a:off x="5372100" y="2592456"/>
            <a:ext cx="142875" cy="14288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6036469" y="2378143"/>
            <a:ext cx="428625" cy="428625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6036469" y="2378143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4</a:t>
            </a:r>
            <a:endParaRPr lang="en-US" sz="1193" dirty="0"/>
          </a:p>
        </p:txBody>
      </p:sp>
      <p:sp>
        <p:nvSpPr>
          <p:cNvPr id="21" name="Text 18"/>
          <p:cNvSpPr/>
          <p:nvPr/>
        </p:nvSpPr>
        <p:spPr>
          <a:xfrm>
            <a:off x="5655087" y="2913924"/>
            <a:ext cx="119136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Treinamento da CNN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5464969" y="3119642"/>
            <a:ext cx="15716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Implementação e ajuste do modelo</a:t>
            </a:r>
            <a:endParaRPr lang="en-US" sz="727" dirty="0"/>
          </a:p>
        </p:txBody>
      </p:sp>
      <p:sp>
        <p:nvSpPr>
          <p:cNvPr id="23" name="Shape 20"/>
          <p:cNvSpPr/>
          <p:nvPr/>
        </p:nvSpPr>
        <p:spPr>
          <a:xfrm>
            <a:off x="7050881" y="2592456"/>
            <a:ext cx="142875" cy="14288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1"/>
          <p:cNvSpPr/>
          <p:nvPr/>
        </p:nvSpPr>
        <p:spPr>
          <a:xfrm>
            <a:off x="7715250" y="2378143"/>
            <a:ext cx="428625" cy="428625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7715250" y="2378143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5</a:t>
            </a:r>
            <a:endParaRPr lang="en-US" sz="1193" dirty="0"/>
          </a:p>
        </p:txBody>
      </p:sp>
      <p:sp>
        <p:nvSpPr>
          <p:cNvPr id="26" name="Text 23"/>
          <p:cNvSpPr/>
          <p:nvPr/>
        </p:nvSpPr>
        <p:spPr>
          <a:xfrm>
            <a:off x="7179971" y="2913924"/>
            <a:ext cx="1499183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Avaliação de Desempenho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7203607" y="3119642"/>
            <a:ext cx="145188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Medição de eficácia do modelo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2925" y="724393"/>
            <a:ext cx="363681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O Poder das CNNs na Análise de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021556"/>
            <a:ext cx="995102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Imagens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428625" y="1541962"/>
            <a:ext cx="400050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Escolha da Técnica</a:t>
            </a:r>
            <a:endParaRPr lang="en-US" sz="734" dirty="0"/>
          </a:p>
        </p:txBody>
      </p:sp>
      <p:sp>
        <p:nvSpPr>
          <p:cNvPr id="6" name="Text 3"/>
          <p:cNvSpPr/>
          <p:nvPr/>
        </p:nvSpPr>
        <p:spPr>
          <a:xfrm>
            <a:off x="428625" y="1738415"/>
            <a:ext cx="398205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O Deep Learning, através das Redes Neurais Convolucionais (CNNs), é a técnica</a:t>
            </a:r>
            <a:endParaRPr lang="en-US" sz="780" dirty="0"/>
          </a:p>
        </p:txBody>
      </p:sp>
      <p:sp>
        <p:nvSpPr>
          <p:cNvPr id="7" name="Text 4"/>
          <p:cNvSpPr/>
          <p:nvPr/>
        </p:nvSpPr>
        <p:spPr>
          <a:xfrm>
            <a:off x="428625" y="1899149"/>
            <a:ext cx="379344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de Machine Learning mais adequada para tarefas de visão computacional e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428625" y="2059884"/>
            <a:ext cx="144105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análise de imagens médicas.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428625" y="2327774"/>
            <a:ext cx="400050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Mecanismo Chave</a:t>
            </a:r>
            <a:endParaRPr lang="en-US" sz="734" dirty="0"/>
          </a:p>
        </p:txBody>
      </p:sp>
      <p:sp>
        <p:nvSpPr>
          <p:cNvPr id="10" name="Text 7"/>
          <p:cNvSpPr/>
          <p:nvPr/>
        </p:nvSpPr>
        <p:spPr>
          <a:xfrm>
            <a:off x="428625" y="2524227"/>
            <a:ext cx="88384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As CNNs utilizam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1312469" y="2524227"/>
            <a:ext cx="81804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2C3E50"/>
                </a:solidFill>
              </a:rPr>
              <a:t>filtros (kernels)</a:t>
            </a:r>
            <a:endParaRPr lang="en-US" sz="734" dirty="0"/>
          </a:p>
        </p:txBody>
      </p:sp>
      <p:sp>
        <p:nvSpPr>
          <p:cNvPr id="12" name="Text 9"/>
          <p:cNvSpPr/>
          <p:nvPr/>
        </p:nvSpPr>
        <p:spPr>
          <a:xfrm>
            <a:off x="2130512" y="2524227"/>
            <a:ext cx="181052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para aprender automaticamente as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428625" y="2684962"/>
            <a:ext cx="394904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características espaciais e hierárquicas das imagens (bordas, texturas, padrões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428625" y="2845696"/>
            <a:ext cx="66587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pulmonares).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428625" y="3113587"/>
            <a:ext cx="400050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Vantagem Decisiva</a:t>
            </a:r>
            <a:endParaRPr lang="en-US" sz="734" dirty="0"/>
          </a:p>
        </p:txBody>
      </p:sp>
      <p:sp>
        <p:nvSpPr>
          <p:cNvPr id="16" name="Text 13"/>
          <p:cNvSpPr/>
          <p:nvPr/>
        </p:nvSpPr>
        <p:spPr>
          <a:xfrm>
            <a:off x="428625" y="3310040"/>
            <a:ext cx="357784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Diferente de métodos tradicionais, as CNNs eliminam a necessidade de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428625" y="3470774"/>
            <a:ext cx="179949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extração manual de características (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2228124" y="3470774"/>
            <a:ext cx="93644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i="1" dirty="0">
                <a:solidFill>
                  <a:srgbClr val="2C3E50"/>
                </a:solidFill>
              </a:rPr>
              <a:t>feature engineering</a:t>
            </a:r>
            <a:endParaRPr lang="en-US" sz="780" dirty="0"/>
          </a:p>
        </p:txBody>
      </p:sp>
      <p:sp>
        <p:nvSpPr>
          <p:cNvPr id="19" name="Text 16"/>
          <p:cNvSpPr/>
          <p:nvPr/>
        </p:nvSpPr>
        <p:spPr>
          <a:xfrm>
            <a:off x="3164570" y="3470774"/>
            <a:ext cx="70681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), aprendendo</a:t>
            </a:r>
            <a:endParaRPr lang="en-US" sz="780" dirty="0"/>
          </a:p>
        </p:txBody>
      </p:sp>
      <p:sp>
        <p:nvSpPr>
          <p:cNvPr id="20" name="Text 17"/>
          <p:cNvSpPr/>
          <p:nvPr/>
        </p:nvSpPr>
        <p:spPr>
          <a:xfrm>
            <a:off x="428625" y="3631509"/>
            <a:ext cx="324683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diretamente a representação mais relevante para a classificação.</a:t>
            </a:r>
            <a:endParaRPr lang="en-US" sz="780" dirty="0"/>
          </a:p>
        </p:txBody>
      </p:sp>
      <p:sp>
        <p:nvSpPr>
          <p:cNvPr id="21" name="Text 18"/>
          <p:cNvSpPr/>
          <p:nvPr/>
        </p:nvSpPr>
        <p:spPr>
          <a:xfrm>
            <a:off x="428625" y="3899399"/>
            <a:ext cx="400050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Aplicação no Projeto</a:t>
            </a:r>
            <a:endParaRPr lang="en-US" sz="734" dirty="0"/>
          </a:p>
        </p:txBody>
      </p:sp>
      <p:sp>
        <p:nvSpPr>
          <p:cNvPr id="22" name="Text 19"/>
          <p:cNvSpPr/>
          <p:nvPr/>
        </p:nvSpPr>
        <p:spPr>
          <a:xfrm>
            <a:off x="428625" y="4095852"/>
            <a:ext cx="391614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A CNN foi treinada para identificar os padrões visuais específicos da COVID-19</a:t>
            </a:r>
            <a:endParaRPr lang="en-US" sz="780" dirty="0"/>
          </a:p>
        </p:txBody>
      </p:sp>
      <p:sp>
        <p:nvSpPr>
          <p:cNvPr id="23" name="Text 20"/>
          <p:cNvSpPr/>
          <p:nvPr/>
        </p:nvSpPr>
        <p:spPr>
          <a:xfrm>
            <a:off x="428625" y="4256587"/>
            <a:ext cx="142219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nas imagens de TC do tórax.</a:t>
            </a:r>
            <a:endParaRPr lang="en-US" sz="78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6099" y="1214438"/>
            <a:ext cx="3878024" cy="27145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79211"/>
            <a:ext cx="82867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Evolução da Arquitetura e Estratégia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28625" y="1462125"/>
            <a:ext cx="4036219" cy="2802136"/>
          </a:xfrm>
          <a:prstGeom prst="rect">
            <a:avLst/>
          </a:prstGeom>
          <a:solidFill>
            <a:srgbClr val="0052CC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428625" y="1462125"/>
            <a:ext cx="4036219" cy="2857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571500" y="1605000"/>
            <a:ext cx="375046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Versão Inicial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571500" y="1894322"/>
            <a:ext cx="37504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52CC"/>
                </a:solidFill>
              </a:rPr>
              <a:t>Arquitetura</a:t>
            </a:r>
            <a:endParaRPr lang="en-US" sz="634" dirty="0"/>
          </a:p>
        </p:txBody>
      </p:sp>
      <p:sp>
        <p:nvSpPr>
          <p:cNvPr id="8" name="Text 5"/>
          <p:cNvSpPr/>
          <p:nvPr/>
        </p:nvSpPr>
        <p:spPr>
          <a:xfrm>
            <a:off x="571500" y="2049698"/>
            <a:ext cx="375046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1A1A"/>
                </a:solidFill>
              </a:rPr>
              <a:t>MobileNetV2</a:t>
            </a:r>
            <a:r>
              <a:rPr lang="en-US" sz="780" dirty="0">
                <a:solidFill>
                  <a:srgbClr val="2C3E50"/>
                </a:solidFill>
              </a:rPr>
              <a:t> (mais leve)</a:t>
            </a:r>
            <a:endParaRPr lang="en-US" sz="734" dirty="0"/>
          </a:p>
        </p:txBody>
      </p:sp>
      <p:sp>
        <p:nvSpPr>
          <p:cNvPr id="9" name="Text 6"/>
          <p:cNvSpPr/>
          <p:nvPr/>
        </p:nvSpPr>
        <p:spPr>
          <a:xfrm>
            <a:off x="571500" y="2310445"/>
            <a:ext cx="37504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52CC"/>
                </a:solidFill>
              </a:rPr>
              <a:t>Problema Identificado</a:t>
            </a:r>
            <a:endParaRPr lang="en-US" sz="634" dirty="0"/>
          </a:p>
        </p:txBody>
      </p:sp>
      <p:sp>
        <p:nvSpPr>
          <p:cNvPr id="10" name="Text 7"/>
          <p:cNvSpPr/>
          <p:nvPr/>
        </p:nvSpPr>
        <p:spPr>
          <a:xfrm>
            <a:off x="571500" y="2465822"/>
            <a:ext cx="375046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1A1A"/>
                </a:solidFill>
              </a:rPr>
              <a:t>Subajuste</a:t>
            </a:r>
            <a:r>
              <a:rPr lang="en-US" sz="780" dirty="0">
                <a:solidFill>
                  <a:srgbClr val="D32F2F"/>
                </a:solidFill>
              </a:rPr>
              <a:t> - Modelo não capturou padrões complexos</a:t>
            </a:r>
            <a:endParaRPr lang="en-US" sz="734" dirty="0"/>
          </a:p>
        </p:txBody>
      </p:sp>
      <p:sp>
        <p:nvSpPr>
          <p:cNvPr id="11" name="Text 8"/>
          <p:cNvSpPr/>
          <p:nvPr/>
        </p:nvSpPr>
        <p:spPr>
          <a:xfrm>
            <a:off x="571500" y="2726568"/>
            <a:ext cx="37504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52CC"/>
                </a:solidFill>
              </a:rPr>
              <a:t>Acurácia de Validação</a:t>
            </a:r>
            <a:endParaRPr lang="en-US" sz="634" dirty="0"/>
          </a:p>
        </p:txBody>
      </p:sp>
      <p:sp>
        <p:nvSpPr>
          <p:cNvPr id="12" name="Shape 9"/>
          <p:cNvSpPr/>
          <p:nvPr/>
        </p:nvSpPr>
        <p:spPr>
          <a:xfrm>
            <a:off x="571500" y="2881945"/>
            <a:ext cx="3750469" cy="27860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571500" y="2881945"/>
            <a:ext cx="21431" cy="278606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571500" y="2881945"/>
            <a:ext cx="3750469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~70%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571500" y="3260564"/>
            <a:ext cx="37504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52CC"/>
                </a:solidFill>
              </a:rPr>
              <a:t>Precisão</a:t>
            </a:r>
            <a:endParaRPr lang="en-US" sz="634" dirty="0"/>
          </a:p>
        </p:txBody>
      </p:sp>
      <p:sp>
        <p:nvSpPr>
          <p:cNvPr id="16" name="Text 13"/>
          <p:cNvSpPr/>
          <p:nvPr/>
        </p:nvSpPr>
        <p:spPr>
          <a:xfrm>
            <a:off x="571500" y="3423084"/>
            <a:ext cx="72760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1A1A"/>
                </a:solidFill>
              </a:rPr>
              <a:t>Insatisfatória</a:t>
            </a:r>
            <a:endParaRPr lang="en-US" sz="734" dirty="0"/>
          </a:p>
        </p:txBody>
      </p:sp>
      <p:sp>
        <p:nvSpPr>
          <p:cNvPr id="17" name="Text 14"/>
          <p:cNvSpPr/>
          <p:nvPr/>
        </p:nvSpPr>
        <p:spPr>
          <a:xfrm>
            <a:off x="571500" y="3676687"/>
            <a:ext cx="37504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52CC"/>
                </a:solidFill>
              </a:rPr>
              <a:t>Data Augmentation</a:t>
            </a:r>
            <a:endParaRPr lang="en-US" sz="634" dirty="0"/>
          </a:p>
        </p:txBody>
      </p:sp>
      <p:sp>
        <p:nvSpPr>
          <p:cNvPr id="18" name="Text 15"/>
          <p:cNvSpPr/>
          <p:nvPr/>
        </p:nvSpPr>
        <p:spPr>
          <a:xfrm>
            <a:off x="571500" y="3832064"/>
            <a:ext cx="375046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Técnicas básicas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4679156" y="1462125"/>
            <a:ext cx="4036219" cy="2802136"/>
          </a:xfrm>
          <a:prstGeom prst="rect">
            <a:avLst/>
          </a:prstGeom>
          <a:solidFill>
            <a:srgbClr val="0052CC">
              <a:alpha val="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4679156" y="1462125"/>
            <a:ext cx="4036219" cy="2857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4822031" y="1619287"/>
            <a:ext cx="375046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Versão Final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4822031" y="1908609"/>
            <a:ext cx="37504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52CC"/>
                </a:solidFill>
              </a:rPr>
              <a:t>Arquitetura</a:t>
            </a:r>
            <a:endParaRPr lang="en-US" sz="634" dirty="0"/>
          </a:p>
        </p:txBody>
      </p:sp>
      <p:sp>
        <p:nvSpPr>
          <p:cNvPr id="23" name="Text 20"/>
          <p:cNvSpPr/>
          <p:nvPr/>
        </p:nvSpPr>
        <p:spPr>
          <a:xfrm>
            <a:off x="4822031" y="2063986"/>
            <a:ext cx="375046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1A1A"/>
                </a:solidFill>
              </a:rPr>
              <a:t>DenseNet121</a:t>
            </a:r>
            <a:r>
              <a:rPr lang="en-US" sz="780" dirty="0">
                <a:solidFill>
                  <a:srgbClr val="2C3E50"/>
                </a:solidFill>
              </a:rPr>
              <a:t> (mais profunda e robusta)</a:t>
            </a:r>
            <a:endParaRPr lang="en-US" sz="734" dirty="0"/>
          </a:p>
        </p:txBody>
      </p:sp>
      <p:sp>
        <p:nvSpPr>
          <p:cNvPr id="24" name="Text 21"/>
          <p:cNvSpPr/>
          <p:nvPr/>
        </p:nvSpPr>
        <p:spPr>
          <a:xfrm>
            <a:off x="4822031" y="2324733"/>
            <a:ext cx="37504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52CC"/>
                </a:solidFill>
              </a:rPr>
              <a:t>Solução Implementada</a:t>
            </a:r>
            <a:endParaRPr lang="en-US" sz="634" dirty="0"/>
          </a:p>
        </p:txBody>
      </p:sp>
      <p:sp>
        <p:nvSpPr>
          <p:cNvPr id="25" name="Text 22"/>
          <p:cNvSpPr/>
          <p:nvPr/>
        </p:nvSpPr>
        <p:spPr>
          <a:xfrm>
            <a:off x="4822031" y="2480109"/>
            <a:ext cx="375046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1A1A"/>
                </a:solidFill>
              </a:rPr>
              <a:t>Arquitetura Profunda</a:t>
            </a:r>
            <a:r>
              <a:rPr lang="en-US" sz="780" dirty="0">
                <a:solidFill>
                  <a:srgbClr val="388E3C"/>
                </a:solidFill>
              </a:rPr>
              <a:t> - Maior capacidade de extração de características</a:t>
            </a:r>
            <a:endParaRPr lang="en-US" sz="734" dirty="0"/>
          </a:p>
        </p:txBody>
      </p:sp>
      <p:sp>
        <p:nvSpPr>
          <p:cNvPr id="26" name="Text 23"/>
          <p:cNvSpPr/>
          <p:nvPr/>
        </p:nvSpPr>
        <p:spPr>
          <a:xfrm>
            <a:off x="4822031" y="2740856"/>
            <a:ext cx="37504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52CC"/>
                </a:solidFill>
              </a:rPr>
              <a:t>Acurácia de Validação</a:t>
            </a:r>
            <a:endParaRPr lang="en-US" sz="634" dirty="0"/>
          </a:p>
        </p:txBody>
      </p:sp>
      <p:sp>
        <p:nvSpPr>
          <p:cNvPr id="27" name="Shape 24"/>
          <p:cNvSpPr/>
          <p:nvPr/>
        </p:nvSpPr>
        <p:spPr>
          <a:xfrm>
            <a:off x="4822031" y="2896233"/>
            <a:ext cx="3750469" cy="27860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5"/>
          <p:cNvSpPr/>
          <p:nvPr/>
        </p:nvSpPr>
        <p:spPr>
          <a:xfrm>
            <a:off x="4822031" y="2896233"/>
            <a:ext cx="21431" cy="278606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6"/>
          <p:cNvSpPr/>
          <p:nvPr/>
        </p:nvSpPr>
        <p:spPr>
          <a:xfrm>
            <a:off x="4822031" y="2896233"/>
            <a:ext cx="3750469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&gt;91%</a:t>
            </a:r>
            <a:endParaRPr lang="en-US" sz="683" dirty="0"/>
          </a:p>
        </p:txBody>
      </p:sp>
      <p:sp>
        <p:nvSpPr>
          <p:cNvPr id="30" name="Text 27"/>
          <p:cNvSpPr/>
          <p:nvPr/>
        </p:nvSpPr>
        <p:spPr>
          <a:xfrm>
            <a:off x="4822031" y="3274851"/>
            <a:ext cx="37504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52CC"/>
                </a:solidFill>
              </a:rPr>
              <a:t>Redução de Perda</a:t>
            </a:r>
            <a:endParaRPr lang="en-US" sz="634" dirty="0"/>
          </a:p>
        </p:txBody>
      </p:sp>
      <p:sp>
        <p:nvSpPr>
          <p:cNvPr id="31" name="Text 28"/>
          <p:cNvSpPr/>
          <p:nvPr/>
        </p:nvSpPr>
        <p:spPr>
          <a:xfrm>
            <a:off x="4822031" y="3430228"/>
            <a:ext cx="375046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1A1A"/>
                </a:solidFill>
              </a:rPr>
              <a:t>Significativa</a:t>
            </a:r>
            <a:r>
              <a:rPr lang="en-US" sz="780" dirty="0">
                <a:solidFill>
                  <a:srgbClr val="388E3C"/>
                </a:solidFill>
              </a:rPr>
              <a:t> na validação</a:t>
            </a:r>
            <a:endParaRPr lang="en-US" sz="734" dirty="0"/>
          </a:p>
        </p:txBody>
      </p:sp>
      <p:sp>
        <p:nvSpPr>
          <p:cNvPr id="32" name="Text 29"/>
          <p:cNvSpPr/>
          <p:nvPr/>
        </p:nvSpPr>
        <p:spPr>
          <a:xfrm>
            <a:off x="4822031" y="3690975"/>
            <a:ext cx="37504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52CC"/>
                </a:solidFill>
              </a:rPr>
              <a:t>Data Augmentation</a:t>
            </a:r>
            <a:endParaRPr lang="en-US" sz="634" dirty="0"/>
          </a:p>
        </p:txBody>
      </p:sp>
      <p:sp>
        <p:nvSpPr>
          <p:cNvPr id="33" name="Text 30"/>
          <p:cNvSpPr/>
          <p:nvPr/>
        </p:nvSpPr>
        <p:spPr>
          <a:xfrm>
            <a:off x="4822031" y="3846351"/>
            <a:ext cx="375046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Técnicas agressivas (rotação, deslocamento, inversão)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53790"/>
            <a:ext cx="82867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Detalhes Técnicos da Solução (MobileNetV2)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400984"/>
            <a:ext cx="405407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Transfer Learning</a:t>
            </a:r>
            <a:endParaRPr lang="en-US" sz="734" dirty="0"/>
          </a:p>
        </p:txBody>
      </p:sp>
      <p:sp>
        <p:nvSpPr>
          <p:cNvPr id="5" name="Text 2"/>
          <p:cNvSpPr/>
          <p:nvPr/>
        </p:nvSpPr>
        <p:spPr>
          <a:xfrm>
            <a:off x="428625" y="1618869"/>
            <a:ext cx="4054078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Utilização do </a:t>
            </a:r>
            <a:r>
              <a:rPr lang="en-US" sz="683" b="1" dirty="0">
                <a:solidFill>
                  <a:srgbClr val="1A1A1A"/>
                </a:solidFill>
              </a:rPr>
              <a:t>MobileNetV2</a:t>
            </a:r>
            <a:r>
              <a:rPr lang="en-US" sz="727" dirty="0">
                <a:solidFill>
                  <a:srgbClr val="2C3E50"/>
                </a:solidFill>
              </a:rPr>
              <a:t> (pré-treinado em ImageNet) como modelo base. As camadas convolucionais são </a:t>
            </a:r>
            <a:r>
              <a:rPr lang="en-US" sz="683" b="1" dirty="0">
                <a:solidFill>
                  <a:srgbClr val="1A1A1A"/>
                </a:solidFill>
              </a:rPr>
              <a:t>congeladas</a:t>
            </a:r>
            <a:r>
              <a:rPr lang="en-US" sz="727" dirty="0">
                <a:solidFill>
                  <a:srgbClr val="2C3E50"/>
                </a:solidFill>
              </a:rPr>
              <a:t> para preservar o aprendizado de features genéricas adquiridas no treinamento anterior.</a:t>
            </a:r>
            <a:endParaRPr lang="en-US" sz="727" dirty="0"/>
          </a:p>
        </p:txBody>
      </p:sp>
      <p:sp>
        <p:nvSpPr>
          <p:cNvPr id="6" name="Shape 3"/>
          <p:cNvSpPr/>
          <p:nvPr/>
        </p:nvSpPr>
        <p:spPr>
          <a:xfrm>
            <a:off x="428625" y="2213195"/>
            <a:ext cx="4054078" cy="382860"/>
          </a:xfrm>
          <a:prstGeom prst="rect">
            <a:avLst/>
          </a:prstGeom>
          <a:solidFill>
            <a:srgbClr val="0052CC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428625" y="2213195"/>
            <a:ext cx="21431" cy="382860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428625" y="2213195"/>
            <a:ext cx="4054078" cy="382860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1A1A1A"/>
                </a:solidFill>
              </a:rPr>
              <a:t>Parâmetros Totais: 2,422,081
 Parâmetros Treináveis: 164,097</a:t>
            </a:r>
            <a:endParaRPr lang="en-US" sz="621" dirty="0"/>
          </a:p>
        </p:txBody>
      </p:sp>
      <p:sp>
        <p:nvSpPr>
          <p:cNvPr id="9" name="Text 6"/>
          <p:cNvSpPr/>
          <p:nvPr/>
        </p:nvSpPr>
        <p:spPr>
          <a:xfrm>
            <a:off x="4661297" y="1400984"/>
            <a:ext cx="405407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Classificador Customizado</a:t>
            </a:r>
            <a:endParaRPr lang="en-US" sz="734" dirty="0"/>
          </a:p>
        </p:txBody>
      </p:sp>
      <p:sp>
        <p:nvSpPr>
          <p:cNvPr id="10" name="Text 7"/>
          <p:cNvSpPr/>
          <p:nvPr/>
        </p:nvSpPr>
        <p:spPr>
          <a:xfrm>
            <a:off x="4661297" y="1618869"/>
            <a:ext cx="405407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Adição de camadas densas (Dense) e de regularização (Dropout) no topo do MobileNetV2 para a classificação binária COVID/Não-COVID.</a:t>
            </a:r>
            <a:endParaRPr lang="en-US" sz="727" dirty="0"/>
          </a:p>
        </p:txBody>
      </p:sp>
      <p:sp>
        <p:nvSpPr>
          <p:cNvPr id="11" name="Shape 8"/>
          <p:cNvSpPr/>
          <p:nvPr/>
        </p:nvSpPr>
        <p:spPr>
          <a:xfrm>
            <a:off x="4661297" y="2053186"/>
            <a:ext cx="4054078" cy="742838"/>
          </a:xfrm>
          <a:prstGeom prst="rect">
            <a:avLst/>
          </a:prstGeom>
          <a:solidFill>
            <a:srgbClr val="0052CC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4661297" y="2053186"/>
            <a:ext cx="21431" cy="742838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661297" y="2053186"/>
            <a:ext cx="4054078" cy="742838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1A1A1A"/>
                </a:solidFill>
              </a:rPr>
              <a:t>GlobalAveragePooling2D
 Dropout(0.5)
 Dense(128, relu)
 Dropout(0.3)
 Dense(1, sigmoid)</a:t>
            </a:r>
            <a:endParaRPr lang="en-US" sz="621" dirty="0"/>
          </a:p>
        </p:txBody>
      </p:sp>
      <p:sp>
        <p:nvSpPr>
          <p:cNvPr id="14" name="Text 11"/>
          <p:cNvSpPr/>
          <p:nvPr/>
        </p:nvSpPr>
        <p:spPr>
          <a:xfrm>
            <a:off x="428625" y="2974618"/>
            <a:ext cx="405407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Compilação do Modelo</a:t>
            </a:r>
            <a:endParaRPr lang="en-US" sz="734" dirty="0"/>
          </a:p>
        </p:txBody>
      </p:sp>
      <p:sp>
        <p:nvSpPr>
          <p:cNvPr id="15" name="Text 12"/>
          <p:cNvSpPr/>
          <p:nvPr/>
        </p:nvSpPr>
        <p:spPr>
          <a:xfrm>
            <a:off x="428625" y="3192503"/>
            <a:ext cx="4054078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Otimizador:</a:t>
            </a:r>
            <a:r>
              <a:rPr lang="en-US" sz="727" dirty="0">
                <a:solidFill>
                  <a:srgbClr val="2C3E50"/>
                </a:solidFill>
              </a:rPr>
              <a:t> Adam (taxa de aprendizado: 0.001). </a:t>
            </a:r>
            <a:r>
              <a:rPr lang="en-US" sz="683" b="1" dirty="0">
                <a:solidFill>
                  <a:srgbClr val="1A1A1A"/>
                </a:solidFill>
              </a:rPr>
              <a:t>Função de Perda:</a:t>
            </a:r>
            <a:r>
              <a:rPr lang="en-US" sz="727" dirty="0">
                <a:solidFill>
                  <a:srgbClr val="2C3E50"/>
                </a:solidFill>
              </a:rPr>
              <a:t> Binary Crossentropy (apropriada para classificação binária). </a:t>
            </a:r>
            <a:r>
              <a:rPr lang="en-US" sz="683" b="1" dirty="0">
                <a:solidFill>
                  <a:srgbClr val="1A1A1A"/>
                </a:solidFill>
              </a:rPr>
              <a:t>Métricas:</a:t>
            </a:r>
            <a:r>
              <a:rPr lang="en-US" sz="727" dirty="0">
                <a:solidFill>
                  <a:srgbClr val="2C3E50"/>
                </a:solidFill>
              </a:rPr>
              <a:t> Acurácia, Precisão, Recall.</a:t>
            </a:r>
            <a:endParaRPr lang="en-US" sz="683" dirty="0"/>
          </a:p>
        </p:txBody>
      </p:sp>
      <p:sp>
        <p:nvSpPr>
          <p:cNvPr id="16" name="Shape 13"/>
          <p:cNvSpPr/>
          <p:nvPr/>
        </p:nvSpPr>
        <p:spPr>
          <a:xfrm>
            <a:off x="428625" y="3786829"/>
            <a:ext cx="4054078" cy="502853"/>
          </a:xfrm>
          <a:prstGeom prst="rect">
            <a:avLst/>
          </a:prstGeom>
          <a:solidFill>
            <a:srgbClr val="0052CC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428625" y="3786829"/>
            <a:ext cx="21431" cy="502853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428625" y="3786829"/>
            <a:ext cx="4054078" cy="502853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1A1A1A"/>
                </a:solidFill>
              </a:rPr>
              <a:t>optimizer='Adam'
 learning_rate=0.001
 loss='binary_crossentropy'</a:t>
            </a:r>
            <a:endParaRPr lang="en-US" sz="621" dirty="0"/>
          </a:p>
        </p:txBody>
      </p:sp>
      <p:sp>
        <p:nvSpPr>
          <p:cNvPr id="19" name="Text 16"/>
          <p:cNvSpPr/>
          <p:nvPr/>
        </p:nvSpPr>
        <p:spPr>
          <a:xfrm>
            <a:off x="4661297" y="2974618"/>
            <a:ext cx="405407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Estratégia de Treinamento</a:t>
            </a:r>
            <a:endParaRPr lang="en-US" sz="734" dirty="0"/>
          </a:p>
        </p:txBody>
      </p:sp>
      <p:sp>
        <p:nvSpPr>
          <p:cNvPr id="20" name="Text 17"/>
          <p:cNvSpPr/>
          <p:nvPr/>
        </p:nvSpPr>
        <p:spPr>
          <a:xfrm>
            <a:off x="4661297" y="3192503"/>
            <a:ext cx="4054078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EarlyStopping:</a:t>
            </a:r>
            <a:r>
              <a:rPr lang="en-US" sz="727" dirty="0">
                <a:solidFill>
                  <a:srgbClr val="2C3E50"/>
                </a:solidFill>
              </a:rPr>
              <a:t> Interrompe o treinamento quando a loss de validação para de melhorar. </a:t>
            </a:r>
            <a:r>
              <a:rPr lang="en-US" sz="683" b="1" dirty="0">
                <a:solidFill>
                  <a:srgbClr val="1A1A1A"/>
                </a:solidFill>
              </a:rPr>
              <a:t>ReduceLROnPlateau:</a:t>
            </a:r>
            <a:r>
              <a:rPr lang="en-US" sz="727" dirty="0">
                <a:solidFill>
                  <a:srgbClr val="2C3E50"/>
                </a:solidFill>
              </a:rPr>
              <a:t> Reduz a taxa de aprendizado quando o treinamento estagna, otimizando a convergência.</a:t>
            </a:r>
            <a:endParaRPr lang="en-US" sz="683" dirty="0"/>
          </a:p>
        </p:txBody>
      </p:sp>
      <p:sp>
        <p:nvSpPr>
          <p:cNvPr id="21" name="Shape 18"/>
          <p:cNvSpPr/>
          <p:nvPr/>
        </p:nvSpPr>
        <p:spPr>
          <a:xfrm>
            <a:off x="4661297" y="3786829"/>
            <a:ext cx="4054078" cy="502853"/>
          </a:xfrm>
          <a:prstGeom prst="rect">
            <a:avLst/>
          </a:prstGeom>
          <a:solidFill>
            <a:srgbClr val="0052CC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4661297" y="3786829"/>
            <a:ext cx="21431" cy="502853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4661297" y="3786829"/>
            <a:ext cx="4054078" cy="502853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1A1A1A"/>
                </a:solidFill>
              </a:rPr>
              <a:t>Batch Size: 32
 Epochs: 50 (com early stop)
 Input: 224×224×3 (RGB)</a:t>
            </a:r>
            <a:endParaRPr lang="en-US" sz="62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47598"/>
            <a:ext cx="4000500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Preparação dos Dados para o Treinamento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420518"/>
            <a:ext cx="400050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Dataset</a:t>
            </a:r>
            <a:endParaRPr lang="en-US" sz="734" dirty="0"/>
          </a:p>
        </p:txBody>
      </p:sp>
      <p:sp>
        <p:nvSpPr>
          <p:cNvPr id="5" name="Text 2"/>
          <p:cNvSpPr/>
          <p:nvPr/>
        </p:nvSpPr>
        <p:spPr>
          <a:xfrm>
            <a:off x="428625" y="1624115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SARS-CoV-2 CT-Scan Dataset</a:t>
            </a:r>
            <a:r>
              <a:rPr lang="en-US" sz="727" dirty="0">
                <a:solidFill>
                  <a:srgbClr val="2C3E50"/>
                </a:solidFill>
              </a:rPr>
              <a:t> (Kaggle)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428625" y="1816996"/>
            <a:ext cx="400050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Total de imagens: </a:t>
            </a:r>
            <a:r>
              <a:rPr lang="en-US" sz="683" b="1" dirty="0">
                <a:solidFill>
                  <a:srgbClr val="1A1A1A"/>
                </a:solidFill>
              </a:rPr>
              <a:t>2.481</a:t>
            </a:r>
            <a:r>
              <a:rPr lang="en-US" sz="727" dirty="0">
                <a:solidFill>
                  <a:srgbClr val="2C3E50"/>
                </a:solidFill>
              </a:rPr>
              <a:t> (1.252 COVID-19 positivas, 1.229 não-COVID). Balanceamento: </a:t>
            </a:r>
            <a:r>
              <a:rPr lang="en-US" sz="683" b="1" dirty="0">
                <a:solidFill>
                  <a:srgbClr val="1A1A1A"/>
                </a:solidFill>
              </a:rPr>
              <a:t>50,46%</a:t>
            </a:r>
            <a:r>
              <a:rPr lang="en-US" sz="727" dirty="0">
                <a:solidFill>
                  <a:srgbClr val="2C3E50"/>
                </a:solidFill>
              </a:rPr>
              <a:t> COVID positivo. Dataset bem balanceado para treinamento robusto.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428625" y="2438502"/>
            <a:ext cx="400050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Pré-processamento</a:t>
            </a:r>
            <a:endParaRPr lang="en-US" sz="734" dirty="0"/>
          </a:p>
        </p:txBody>
      </p:sp>
      <p:sp>
        <p:nvSpPr>
          <p:cNvPr id="8" name="Text 5"/>
          <p:cNvSpPr/>
          <p:nvPr/>
        </p:nvSpPr>
        <p:spPr>
          <a:xfrm>
            <a:off x="428625" y="2642099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Preparação essencial das imagens para entrada no MobileNetV2: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542925" y="2840338"/>
            <a:ext cx="66830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Normalização:</a:t>
            </a:r>
            <a:endParaRPr lang="en-US" sz="634" dirty="0"/>
          </a:p>
        </p:txBody>
      </p:sp>
      <p:sp>
        <p:nvSpPr>
          <p:cNvPr id="10" name="Text 7"/>
          <p:cNvSpPr/>
          <p:nvPr/>
        </p:nvSpPr>
        <p:spPr>
          <a:xfrm>
            <a:off x="1211228" y="2840338"/>
            <a:ext cx="177614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Ajuste dos valores de pixel (0-255 → 0-1)</a:t>
            </a:r>
            <a:endParaRPr lang="en-US" sz="674" dirty="0"/>
          </a:p>
        </p:txBody>
      </p:sp>
      <p:sp>
        <p:nvSpPr>
          <p:cNvPr id="11" name="Text 8"/>
          <p:cNvSpPr/>
          <p:nvPr/>
        </p:nvSpPr>
        <p:spPr>
          <a:xfrm>
            <a:off x="542925" y="3008216"/>
            <a:ext cx="99083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Redimensionamento:</a:t>
            </a:r>
            <a:endParaRPr lang="en-US" sz="634" dirty="0"/>
          </a:p>
        </p:txBody>
      </p:sp>
      <p:sp>
        <p:nvSpPr>
          <p:cNvPr id="12" name="Text 9"/>
          <p:cNvSpPr/>
          <p:nvPr/>
        </p:nvSpPr>
        <p:spPr>
          <a:xfrm>
            <a:off x="1533758" y="3008216"/>
            <a:ext cx="73321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Conversão para</a:t>
            </a:r>
            <a:endParaRPr lang="en-US" sz="674" dirty="0"/>
          </a:p>
        </p:txBody>
      </p:sp>
      <p:sp>
        <p:nvSpPr>
          <p:cNvPr id="13" name="Text 10"/>
          <p:cNvSpPr/>
          <p:nvPr/>
        </p:nvSpPr>
        <p:spPr>
          <a:xfrm>
            <a:off x="2266969" y="3008216"/>
            <a:ext cx="47810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224×224×3</a:t>
            </a:r>
            <a:endParaRPr lang="en-US" sz="634" dirty="0"/>
          </a:p>
        </p:txBody>
      </p:sp>
      <p:sp>
        <p:nvSpPr>
          <p:cNvPr id="14" name="Text 11"/>
          <p:cNvSpPr/>
          <p:nvPr/>
        </p:nvSpPr>
        <p:spPr>
          <a:xfrm>
            <a:off x="2745070" y="3008216"/>
            <a:ext cx="97830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(padrão MobileNetV2)</a:t>
            </a:r>
            <a:endParaRPr lang="en-US" sz="674" dirty="0"/>
          </a:p>
        </p:txBody>
      </p:sp>
      <p:sp>
        <p:nvSpPr>
          <p:cNvPr id="15" name="Text 12"/>
          <p:cNvSpPr/>
          <p:nvPr/>
        </p:nvSpPr>
        <p:spPr>
          <a:xfrm>
            <a:off x="542925" y="3176095"/>
            <a:ext cx="64955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Padronização:</a:t>
            </a:r>
            <a:endParaRPr lang="en-US" sz="634" dirty="0"/>
          </a:p>
        </p:txBody>
      </p:sp>
      <p:sp>
        <p:nvSpPr>
          <p:cNvPr id="16" name="Text 13"/>
          <p:cNvSpPr/>
          <p:nvPr/>
        </p:nvSpPr>
        <p:spPr>
          <a:xfrm>
            <a:off x="1192476" y="3176095"/>
            <a:ext cx="164825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Consistência entre todas as amostras</a:t>
            </a:r>
            <a:endParaRPr lang="en-US" sz="674" dirty="0"/>
          </a:p>
        </p:txBody>
      </p:sp>
      <p:sp>
        <p:nvSpPr>
          <p:cNvPr id="17" name="Text 14"/>
          <p:cNvSpPr/>
          <p:nvPr/>
        </p:nvSpPr>
        <p:spPr>
          <a:xfrm>
            <a:off x="428625" y="3467202"/>
            <a:ext cx="400050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Data Augmentation</a:t>
            </a:r>
            <a:endParaRPr lang="en-US" sz="734" dirty="0"/>
          </a:p>
        </p:txBody>
      </p:sp>
      <p:sp>
        <p:nvSpPr>
          <p:cNvPr id="18" name="Text 15"/>
          <p:cNvSpPr/>
          <p:nvPr/>
        </p:nvSpPr>
        <p:spPr>
          <a:xfrm>
            <a:off x="428625" y="3670799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Transformações nas imagens existentes: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542925" y="3869038"/>
            <a:ext cx="141005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Rotação, zoom, deslocamento:</a:t>
            </a:r>
            <a:endParaRPr lang="en-US" sz="634" dirty="0"/>
          </a:p>
        </p:txBody>
      </p:sp>
      <p:sp>
        <p:nvSpPr>
          <p:cNvPr id="20" name="Text 17"/>
          <p:cNvSpPr/>
          <p:nvPr/>
        </p:nvSpPr>
        <p:spPr>
          <a:xfrm>
            <a:off x="1952978" y="3869038"/>
            <a:ext cx="128280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Aumentam volume de dados</a:t>
            </a:r>
            <a:endParaRPr lang="en-US" sz="674" dirty="0"/>
          </a:p>
        </p:txBody>
      </p:sp>
      <p:sp>
        <p:nvSpPr>
          <p:cNvPr id="21" name="Text 18"/>
          <p:cNvSpPr/>
          <p:nvPr/>
        </p:nvSpPr>
        <p:spPr>
          <a:xfrm>
            <a:off x="542925" y="4036916"/>
            <a:ext cx="108425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Redução de overfitting:</a:t>
            </a:r>
            <a:endParaRPr lang="en-US" sz="634" dirty="0"/>
          </a:p>
        </p:txBody>
      </p:sp>
      <p:sp>
        <p:nvSpPr>
          <p:cNvPr id="22" name="Text 19"/>
          <p:cNvSpPr/>
          <p:nvPr/>
        </p:nvSpPr>
        <p:spPr>
          <a:xfrm>
            <a:off x="1627184" y="4036916"/>
            <a:ext cx="101544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Melhora generalização</a:t>
            </a:r>
            <a:endParaRPr lang="en-US" sz="674" dirty="0"/>
          </a:p>
        </p:txBody>
      </p:sp>
      <p:sp>
        <p:nvSpPr>
          <p:cNvPr id="23" name="Text 20"/>
          <p:cNvSpPr/>
          <p:nvPr/>
        </p:nvSpPr>
        <p:spPr>
          <a:xfrm>
            <a:off x="542925" y="4204795"/>
            <a:ext cx="45081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Robustez:</a:t>
            </a:r>
            <a:endParaRPr lang="en-US" sz="634" dirty="0"/>
          </a:p>
        </p:txBody>
      </p:sp>
      <p:sp>
        <p:nvSpPr>
          <p:cNvPr id="24" name="Text 21"/>
          <p:cNvSpPr/>
          <p:nvPr/>
        </p:nvSpPr>
        <p:spPr>
          <a:xfrm>
            <a:off x="993735" y="4204795"/>
            <a:ext cx="202000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Capacidade com variações em novas imagens</a:t>
            </a:r>
            <a:endParaRPr lang="en-US" sz="674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1601121"/>
            <a:ext cx="4000500" cy="19412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2925" y="840479"/>
            <a:ext cx="309547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Resultados Finais: Acurácia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137642"/>
            <a:ext cx="169920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Superior a 91%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428625" y="1658048"/>
            <a:ext cx="4000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1.</a:t>
            </a:r>
            <a:r>
              <a:rPr lang="en-US" sz="734" b="1" dirty="0">
                <a:solidFill>
                  <a:srgbClr val="1A1A1A"/>
                </a:solidFill>
              </a:rPr>
              <a:t>Desempenho Aprimorado:</a:t>
            </a:r>
            <a:r>
              <a:rPr lang="en-US" sz="780" dirty="0">
                <a:solidFill>
                  <a:srgbClr val="2C3E50"/>
                </a:solidFill>
              </a:rPr>
              <a:t> O modelo final com **DenseNet121** apresentou uma **acurácia de validação superior a 91%**, com redução significativa da perda de validação em relação à versão inicial.</a:t>
            </a:r>
            <a:endParaRPr lang="en-US" sz="734" dirty="0"/>
          </a:p>
        </p:txBody>
      </p:sp>
      <p:sp>
        <p:nvSpPr>
          <p:cNvPr id="6" name="Text 3"/>
          <p:cNvSpPr/>
          <p:nvPr/>
        </p:nvSpPr>
        <p:spPr>
          <a:xfrm>
            <a:off x="428625" y="2313487"/>
            <a:ext cx="9183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2.</a:t>
            </a:r>
            <a:endParaRPr lang="en-US" sz="734" dirty="0"/>
          </a:p>
        </p:txBody>
      </p:sp>
      <p:sp>
        <p:nvSpPr>
          <p:cNvPr id="7" name="Text 4"/>
          <p:cNvSpPr/>
          <p:nvPr/>
        </p:nvSpPr>
        <p:spPr>
          <a:xfrm>
            <a:off x="577611" y="2313487"/>
            <a:ext cx="55883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1A1A1A"/>
                </a:solidFill>
              </a:rPr>
              <a:t>Discussão:</a:t>
            </a:r>
            <a:endParaRPr lang="en-US" sz="734" dirty="0"/>
          </a:p>
        </p:txBody>
      </p:sp>
      <p:sp>
        <p:nvSpPr>
          <p:cNvPr id="8" name="Text 5"/>
          <p:cNvSpPr/>
          <p:nvPr/>
        </p:nvSpPr>
        <p:spPr>
          <a:xfrm>
            <a:off x="1136442" y="2313487"/>
            <a:ext cx="298067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O sucesso da versão final demonstra que a combinação de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428625" y="2484937"/>
            <a:ext cx="394304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**arquiteturas profundas** (DenseNet121), **data augmentation agressivo**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428625" y="2656387"/>
            <a:ext cx="326913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(rotações, deslocamentos, inversões) e **estratégias robustas de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428625" y="2827837"/>
            <a:ext cx="375582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treinamento** (Early Stopping, ReduceLROnPlateau) é fundamental para o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428625" y="2999287"/>
            <a:ext cx="258774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desempenho em classificação de imagens médicas.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428625" y="3201098"/>
            <a:ext cx="4000500" cy="321469"/>
          </a:xfrm>
          <a:prstGeom prst="rect">
            <a:avLst/>
          </a:prstGeom>
          <a:solidFill>
            <a:srgbClr val="0052CC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428625" y="3201098"/>
            <a:ext cx="21431" cy="321469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428625" y="3201098"/>
            <a:ext cx="4000500" cy="321469"/>
          </a:xfrm>
          <a:prstGeom prst="rect">
            <a:avLst/>
          </a:prstGeom>
          <a:noFill/>
          <a:ln/>
        </p:spPr>
        <p:txBody>
          <a:bodyPr wrap="square" lIns="119126" tIns="102108" rIns="119126" bIns="1021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Melhoria: De ~70% (MobileNetV2) para &gt;91% (DenseNet121)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428625" y="3651154"/>
            <a:ext cx="4000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3.</a:t>
            </a:r>
            <a:r>
              <a:rPr lang="en-US" sz="734" b="1" dirty="0">
                <a:solidFill>
                  <a:srgbClr val="1A1A1A"/>
                </a:solidFill>
              </a:rPr>
              <a:t>Alinhamento com a Literatura:</a:t>
            </a:r>
            <a:r>
              <a:rPr lang="en-US" sz="780" dirty="0">
                <a:solidFill>
                  <a:srgbClr val="2C3E50"/>
                </a:solidFill>
              </a:rPr>
              <a:t> Os achados estão alinhados com resultados reportados na literatura especializada, validando a abordagem proposta como uma alternativa viável para sistemas de apoio ao diagnóstico.</a:t>
            </a:r>
            <a:endParaRPr lang="en-US" sz="734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1446609"/>
            <a:ext cx="4000500" cy="22502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Gráfico, Gráfico de mapa de árvore&#10;&#10;O conteúdo gerado por IA pode estar incorreto.">
            <a:extLst>
              <a:ext uri="{FF2B5EF4-FFF2-40B4-BE49-F238E27FC236}">
                <a16:creationId xmlns:a16="http://schemas.microsoft.com/office/drawing/2014/main" id="{696A67DB-7267-4610-47D6-0945BF846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727448" cy="3693480"/>
          </a:xfrm>
          <a:prstGeom prst="rect">
            <a:avLst/>
          </a:prstGeom>
        </p:spPr>
      </p:pic>
      <p:pic>
        <p:nvPicPr>
          <p:cNvPr id="7" name="Imagem 6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503A723D-86C4-966E-36A0-3A1364EFE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693480"/>
            <a:ext cx="9143999" cy="1450020"/>
          </a:xfrm>
          <a:prstGeom prst="rect">
            <a:avLst/>
          </a:prstGeom>
        </p:spPr>
      </p:pic>
      <p:pic>
        <p:nvPicPr>
          <p:cNvPr id="9" name="Imagem 8" descr="Gráfico, Diagrama, Gráfico de linhas&#10;&#10;O conteúdo gerado por IA pode estar incorreto.">
            <a:extLst>
              <a:ext uri="{FF2B5EF4-FFF2-40B4-BE49-F238E27FC236}">
                <a16:creationId xmlns:a16="http://schemas.microsoft.com/office/drawing/2014/main" id="{2C7E325A-6991-7372-E64E-1C22AAF56D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8663" y="0"/>
            <a:ext cx="4644445" cy="369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735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41545" y="1159464"/>
            <a:ext cx="2460882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Conclusões do Estudo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1178719" y="1813815"/>
            <a:ext cx="342900" cy="342900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1178719" y="1813815"/>
            <a:ext cx="342900" cy="342900"/>
          </a:xfrm>
          <a:prstGeom prst="rect">
            <a:avLst/>
          </a:prstGeom>
          <a:noFill/>
          <a:ln/>
        </p:spPr>
        <p:txBody>
          <a:bodyPr wrap="square" lIns="0" tIns="17018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1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1664494" y="1813815"/>
            <a:ext cx="6300788" cy="604345"/>
          </a:xfrm>
          <a:prstGeom prst="rect">
            <a:avLst/>
          </a:prstGeom>
          <a:noFill/>
          <a:ln/>
        </p:spPr>
        <p:txBody>
          <a:bodyPr wrap="square" lIns="0" tIns="25527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A evolução do modelo evidenciou que escolhas adequadas de arquitetura (**DenseNet121**) e estratégias robustas de treinamento (data augmentation agressivo, early stopping) são fundamentais para o alcance de bons resultados, atingindo uma **acurácia de validação superior a 91%**.</a:t>
            </a:r>
            <a:endParaRPr lang="en-US" sz="834" dirty="0"/>
          </a:p>
        </p:txBody>
      </p:sp>
      <p:sp>
        <p:nvSpPr>
          <p:cNvPr id="7" name="Shape 4"/>
          <p:cNvSpPr/>
          <p:nvPr/>
        </p:nvSpPr>
        <p:spPr>
          <a:xfrm>
            <a:off x="1178719" y="2596753"/>
            <a:ext cx="342900" cy="342900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178719" y="2596753"/>
            <a:ext cx="342900" cy="342900"/>
          </a:xfrm>
          <a:prstGeom prst="rect">
            <a:avLst/>
          </a:prstGeom>
          <a:noFill/>
          <a:ln/>
        </p:spPr>
        <p:txBody>
          <a:bodyPr wrap="square" lIns="0" tIns="17018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2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1664494" y="2596753"/>
            <a:ext cx="6300788" cy="604345"/>
          </a:xfrm>
          <a:prstGeom prst="rect">
            <a:avLst/>
          </a:prstGeom>
          <a:noFill/>
          <a:ln/>
        </p:spPr>
        <p:txBody>
          <a:bodyPr wrap="square" lIns="0" tIns="25527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O modelo desenvolvido é uma alternativa viável para sistemas de **apoio ao diagnóstico (CAD)**, com alta acurácia na detecção de COVID-19 em imagens de TC, complementando a análise clínica de radiologistas e acelerando o processo de triagem em cenários de alta demanda.</a:t>
            </a:r>
            <a:endParaRPr lang="en-US" sz="834" dirty="0"/>
          </a:p>
        </p:txBody>
      </p:sp>
      <p:sp>
        <p:nvSpPr>
          <p:cNvPr id="10" name="Shape 7"/>
          <p:cNvSpPr/>
          <p:nvPr/>
        </p:nvSpPr>
        <p:spPr>
          <a:xfrm>
            <a:off x="1178719" y="3379691"/>
            <a:ext cx="342900" cy="342900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178719" y="3379691"/>
            <a:ext cx="342900" cy="342900"/>
          </a:xfrm>
          <a:prstGeom prst="rect">
            <a:avLst/>
          </a:prstGeom>
          <a:noFill/>
          <a:ln/>
        </p:spPr>
        <p:txBody>
          <a:bodyPr wrap="square" lIns="0" tIns="17018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3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1664494" y="3379691"/>
            <a:ext cx="6300788" cy="604345"/>
          </a:xfrm>
          <a:prstGeom prst="rect">
            <a:avLst/>
          </a:prstGeom>
          <a:noFill/>
          <a:ln/>
        </p:spPr>
        <p:txBody>
          <a:bodyPr wrap="square" lIns="0" tIns="25527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O estudo reforça a importância estratégica da **Inteligência Artificial** no avanço da medicina diagnóstica, demonstrando o potencial das técnicas de Deep Learning em aplicações clínicas reais e abrindo caminho para futuras pesquisas em outras modalidades de imagem médica.</a:t>
            </a:r>
            <a:endParaRPr lang="en-US" sz="83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380167"/>
            <a:ext cx="800100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Referências Bibliográficas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1000125" y="1963080"/>
            <a:ext cx="257175" cy="257175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1000125" y="1963080"/>
            <a:ext cx="257175" cy="257175"/>
          </a:xfrm>
          <a:prstGeom prst="rect">
            <a:avLst/>
          </a:prstGeom>
          <a:noFill/>
          <a:ln/>
        </p:spPr>
        <p:txBody>
          <a:bodyPr wrap="square" lIns="0" tIns="8509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1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1371600" y="1963080"/>
            <a:ext cx="5192697" cy="188584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DETECTING SARS-CoV-2 in CT scans using vision transformer and graph neural network.</a:t>
            </a:r>
            <a:r>
              <a:rPr lang="en-US" sz="727" dirty="0">
                <a:solidFill>
                  <a:srgbClr val="2C3E50"/>
                </a:solidFill>
              </a:rPr>
              <a:t> Algorithms, </a:t>
            </a:r>
            <a:r>
              <a:rPr lang="en-US" sz="683" b="1" dirty="0">
                <a:solidFill>
                  <a:srgbClr val="0052CC"/>
                </a:solidFill>
              </a:rPr>
              <a:t>2025</a:t>
            </a:r>
            <a:r>
              <a:rPr lang="en-US" sz="727" dirty="0">
                <a:solidFill>
                  <a:srgbClr val="2C3E50"/>
                </a:solidFill>
              </a:rPr>
              <a:t>.</a:t>
            </a:r>
            <a:endParaRPr lang="en-US" sz="683" dirty="0"/>
          </a:p>
        </p:txBody>
      </p:sp>
      <p:sp>
        <p:nvSpPr>
          <p:cNvPr id="7" name="Shape 4"/>
          <p:cNvSpPr/>
          <p:nvPr/>
        </p:nvSpPr>
        <p:spPr>
          <a:xfrm>
            <a:off x="1000125" y="2348843"/>
            <a:ext cx="257175" cy="257175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000125" y="2348843"/>
            <a:ext cx="257175" cy="257175"/>
          </a:xfrm>
          <a:prstGeom prst="rect">
            <a:avLst/>
          </a:prstGeom>
          <a:noFill/>
          <a:ln/>
        </p:spPr>
        <p:txBody>
          <a:bodyPr wrap="square" lIns="0" tIns="8509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2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1371600" y="2348843"/>
            <a:ext cx="6630572" cy="188584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A deep convolutional neural network approach using medical image classification.</a:t>
            </a:r>
            <a:r>
              <a:rPr lang="en-US" sz="727" dirty="0">
                <a:solidFill>
                  <a:srgbClr val="2C3E50"/>
                </a:solidFill>
              </a:rPr>
              <a:t> BMC Medical Informatics and Decision Making, </a:t>
            </a:r>
            <a:r>
              <a:rPr lang="en-US" sz="683" b="1" dirty="0">
                <a:solidFill>
                  <a:srgbClr val="0052CC"/>
                </a:solidFill>
              </a:rPr>
              <a:t>2024</a:t>
            </a:r>
            <a:r>
              <a:rPr lang="en-US" sz="727" dirty="0">
                <a:solidFill>
                  <a:srgbClr val="2C3E50"/>
                </a:solidFill>
              </a:rPr>
              <a:t>.</a:t>
            </a:r>
            <a:endParaRPr lang="en-US" sz="683" dirty="0"/>
          </a:p>
        </p:txBody>
      </p:sp>
      <p:sp>
        <p:nvSpPr>
          <p:cNvPr id="10" name="Shape 7"/>
          <p:cNvSpPr/>
          <p:nvPr/>
        </p:nvSpPr>
        <p:spPr>
          <a:xfrm>
            <a:off x="1000125" y="2734605"/>
            <a:ext cx="257175" cy="257175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000125" y="2734605"/>
            <a:ext cx="257175" cy="257175"/>
          </a:xfrm>
          <a:prstGeom prst="rect">
            <a:avLst/>
          </a:prstGeom>
          <a:noFill/>
          <a:ln/>
        </p:spPr>
        <p:txBody>
          <a:bodyPr wrap="square" lIns="0" tIns="8509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3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1371600" y="2734605"/>
            <a:ext cx="6674914" cy="188584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Novel large empirical study of deep transfer learning for COVID-19 classification based on CT and X-ray images.</a:t>
            </a:r>
            <a:r>
              <a:rPr lang="en-US" sz="727" dirty="0">
                <a:solidFill>
                  <a:srgbClr val="2C3E50"/>
                </a:solidFill>
              </a:rPr>
              <a:t> Scientific Reports, </a:t>
            </a:r>
            <a:r>
              <a:rPr lang="en-US" sz="683" b="1" dirty="0">
                <a:solidFill>
                  <a:srgbClr val="0052CC"/>
                </a:solidFill>
              </a:rPr>
              <a:t>2025</a:t>
            </a:r>
            <a:r>
              <a:rPr lang="en-US" sz="727" dirty="0">
                <a:solidFill>
                  <a:srgbClr val="2C3E50"/>
                </a:solidFill>
              </a:rPr>
              <a:t>.</a:t>
            </a:r>
            <a:endParaRPr lang="en-US" sz="683" dirty="0"/>
          </a:p>
        </p:txBody>
      </p:sp>
      <p:sp>
        <p:nvSpPr>
          <p:cNvPr id="13" name="Shape 10"/>
          <p:cNvSpPr/>
          <p:nvPr/>
        </p:nvSpPr>
        <p:spPr>
          <a:xfrm>
            <a:off x="1000125" y="3120368"/>
            <a:ext cx="257175" cy="257175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1000125" y="3120368"/>
            <a:ext cx="257175" cy="257175"/>
          </a:xfrm>
          <a:prstGeom prst="rect">
            <a:avLst/>
          </a:prstGeom>
          <a:noFill/>
          <a:ln/>
        </p:spPr>
        <p:txBody>
          <a:bodyPr wrap="square" lIns="0" tIns="8509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4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1371600" y="3120368"/>
            <a:ext cx="4788545" cy="188584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Diagnosis of COVID-19 CT scans using convolutional neural networks.</a:t>
            </a:r>
            <a:r>
              <a:rPr lang="en-US" sz="727" dirty="0">
                <a:solidFill>
                  <a:srgbClr val="2C3E50"/>
                </a:solidFill>
              </a:rPr>
              <a:t> SN Computer Science, </a:t>
            </a:r>
            <a:r>
              <a:rPr lang="en-US" sz="683" b="1" dirty="0">
                <a:solidFill>
                  <a:srgbClr val="0052CC"/>
                </a:solidFill>
              </a:rPr>
              <a:t>2024</a:t>
            </a:r>
            <a:r>
              <a:rPr lang="en-US" sz="727" dirty="0">
                <a:solidFill>
                  <a:srgbClr val="2C3E50"/>
                </a:solidFill>
              </a:rPr>
              <a:t>.</a:t>
            </a:r>
            <a:endParaRPr lang="en-US" sz="683" dirty="0"/>
          </a:p>
        </p:txBody>
      </p:sp>
      <p:sp>
        <p:nvSpPr>
          <p:cNvPr id="16" name="Shape 13"/>
          <p:cNvSpPr/>
          <p:nvPr/>
        </p:nvSpPr>
        <p:spPr>
          <a:xfrm>
            <a:off x="1000125" y="3506130"/>
            <a:ext cx="257175" cy="257175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1000125" y="3506130"/>
            <a:ext cx="257175" cy="257175"/>
          </a:xfrm>
          <a:prstGeom prst="rect">
            <a:avLst/>
          </a:prstGeom>
          <a:noFill/>
          <a:ln/>
        </p:spPr>
        <p:txBody>
          <a:bodyPr wrap="square" lIns="0" tIns="8509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5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1371600" y="3506130"/>
            <a:ext cx="5155918" cy="188584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COVIDX-Net: A framework of deep learning classifiers to diagnose COVID-19 in X-ray images.</a:t>
            </a:r>
            <a:r>
              <a:rPr lang="en-US" sz="727" dirty="0">
                <a:solidFill>
                  <a:srgbClr val="2C3E50"/>
                </a:solidFill>
              </a:rPr>
              <a:t> arXiv, </a:t>
            </a:r>
            <a:r>
              <a:rPr lang="en-US" sz="683" b="1" dirty="0">
                <a:solidFill>
                  <a:srgbClr val="0052CC"/>
                </a:solidFill>
              </a:rPr>
              <a:t>2020</a:t>
            </a:r>
            <a:r>
              <a:rPr lang="en-US" sz="727" dirty="0">
                <a:solidFill>
                  <a:srgbClr val="2C3E50"/>
                </a:solidFill>
              </a:rPr>
              <a:t>.</a:t>
            </a:r>
            <a:endParaRPr lang="en-US" sz="683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1850" y="1351257"/>
            <a:ext cx="3300301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Próximos Passos na Pesquisa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1919269" y="2005608"/>
            <a:ext cx="400050" cy="400050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1919269" y="2005608"/>
            <a:ext cx="400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1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1455483" y="2519958"/>
            <a:ext cx="1327649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1A1A1A"/>
                </a:solidFill>
              </a:rPr>
              <a:t>Ampliação do Dataset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1000125" y="2763543"/>
            <a:ext cx="223836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Recomenda-se a inclusão de um volume maior e mais diversificado de imagens de TC, cobrindo diferentes populações, equipamentos e protocolos de aquisição para aumentar a robustez e a generalização do modelo.</a:t>
            </a:r>
            <a:endParaRPr lang="en-US" sz="780" dirty="0"/>
          </a:p>
        </p:txBody>
      </p:sp>
      <p:sp>
        <p:nvSpPr>
          <p:cNvPr id="8" name="Shape 5"/>
          <p:cNvSpPr/>
          <p:nvPr/>
        </p:nvSpPr>
        <p:spPr>
          <a:xfrm>
            <a:off x="4371947" y="2005608"/>
            <a:ext cx="400050" cy="400050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4371947" y="2005608"/>
            <a:ext cx="400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2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4061613" y="2519958"/>
            <a:ext cx="1020747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1A1A1A"/>
                </a:solidFill>
              </a:rPr>
              <a:t>Validação Clínica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3452803" y="2763543"/>
            <a:ext cx="2238366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O modelo deve ser submetido a testes e validação em um ambiente clínico real, com a supervisão de radiologistas experientes, para confirmar sua aplicabilidade prática e segurança no contexto médico.</a:t>
            </a:r>
            <a:endParaRPr lang="en-US" sz="780" dirty="0"/>
          </a:p>
        </p:txBody>
      </p:sp>
      <p:sp>
        <p:nvSpPr>
          <p:cNvPr id="12" name="Shape 9"/>
          <p:cNvSpPr/>
          <p:nvPr/>
        </p:nvSpPr>
        <p:spPr>
          <a:xfrm>
            <a:off x="6824625" y="2005608"/>
            <a:ext cx="400050" cy="400050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824625" y="2005608"/>
            <a:ext cx="400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3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6218216" y="2519958"/>
            <a:ext cx="1612897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1A1A1A"/>
                </a:solidFill>
              </a:rPr>
              <a:t>Otimização da Arquitetura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5905481" y="2763543"/>
            <a:ext cx="2238366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Exploração de arquiteturas de CNN mais avançadas (ResNet, VGG, EfficientNet) ou técnicas de Transfer Learning para potencializar o desempenho e reduzir o tempo de treinamento.</a:t>
            </a:r>
            <a:endParaRPr lang="en-US" sz="7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27788" y="483459"/>
            <a:ext cx="2488425" cy="700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3731" b="1" kern="0" spc="-1" dirty="0">
                <a:solidFill>
                  <a:srgbClr val="0052CC"/>
                </a:solidFill>
              </a:rPr>
              <a:t>Obrigado!</a:t>
            </a:r>
            <a:endParaRPr lang="en-US" sz="3731" dirty="0"/>
          </a:p>
        </p:txBody>
      </p:sp>
      <p:sp>
        <p:nvSpPr>
          <p:cNvPr id="4" name="Text 1"/>
          <p:cNvSpPr/>
          <p:nvPr/>
        </p:nvSpPr>
        <p:spPr>
          <a:xfrm>
            <a:off x="2106430" y="1855059"/>
            <a:ext cx="4931141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888" dirty="0">
                <a:solidFill>
                  <a:srgbClr val="2C3E50"/>
                </a:solidFill>
              </a:rPr>
              <a:t>Agradecemos ao </a:t>
            </a:r>
            <a:r>
              <a:rPr lang="en-US" sz="834" b="1" dirty="0">
                <a:solidFill>
                  <a:srgbClr val="1A1A1A"/>
                </a:solidFill>
              </a:rPr>
              <a:t>Professor Raphael Cobe</a:t>
            </a:r>
            <a:r>
              <a:rPr lang="en-US" sz="888" dirty="0">
                <a:solidFill>
                  <a:srgbClr val="2C3E50"/>
                </a:solidFill>
              </a:rPr>
              <a:t> pela orientação e suporte.</a:t>
            </a:r>
            <a:endParaRPr lang="en-US" sz="888" dirty="0"/>
          </a:p>
        </p:txBody>
      </p:sp>
      <p:sp>
        <p:nvSpPr>
          <p:cNvPr id="5" name="Text 2"/>
          <p:cNvSpPr/>
          <p:nvPr/>
        </p:nvSpPr>
        <p:spPr>
          <a:xfrm>
            <a:off x="2106430" y="2106513"/>
            <a:ext cx="4931141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888" dirty="0">
                <a:solidFill>
                  <a:srgbClr val="2C3E50"/>
                </a:solidFill>
              </a:rPr>
              <a:t>Agradecemos ao </a:t>
            </a:r>
            <a:r>
              <a:rPr lang="en-US" sz="834" b="1" dirty="0">
                <a:solidFill>
                  <a:srgbClr val="1A1A1A"/>
                </a:solidFill>
              </a:rPr>
              <a:t>CENTRO UNIVERSITÁRIO SENAC</a:t>
            </a:r>
            <a:r>
              <a:rPr lang="en-US" sz="888" dirty="0">
                <a:solidFill>
                  <a:srgbClr val="2C3E50"/>
                </a:solidFill>
              </a:rPr>
              <a:t> pela infraestrutura e oportunidade.</a:t>
            </a:r>
            <a:endParaRPr lang="en-US" sz="888" dirty="0"/>
          </a:p>
        </p:txBody>
      </p:sp>
      <p:sp>
        <p:nvSpPr>
          <p:cNvPr id="6" name="Text 3"/>
          <p:cNvSpPr/>
          <p:nvPr/>
        </p:nvSpPr>
        <p:spPr>
          <a:xfrm>
            <a:off x="2106430" y="2357968"/>
            <a:ext cx="4931141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888" dirty="0">
                <a:solidFill>
                  <a:srgbClr val="2C3E50"/>
                </a:solidFill>
              </a:rPr>
              <a:t>Agradecemos aos colegas pela colaboração e discussões enriquecedoras.</a:t>
            </a:r>
            <a:endParaRPr lang="en-US" sz="888" dirty="0"/>
          </a:p>
        </p:txBody>
      </p:sp>
      <p:sp>
        <p:nvSpPr>
          <p:cNvPr id="7" name="Shape 4"/>
          <p:cNvSpPr/>
          <p:nvPr/>
        </p:nvSpPr>
        <p:spPr>
          <a:xfrm>
            <a:off x="1442005" y="2966610"/>
            <a:ext cx="6259962" cy="1057610"/>
          </a:xfrm>
          <a:prstGeom prst="rect">
            <a:avLst/>
          </a:prstGeom>
          <a:solidFill>
            <a:srgbClr val="0052CC">
              <a:alpha val="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1442005" y="2966610"/>
            <a:ext cx="6259962" cy="21431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1442005" y="4002788"/>
            <a:ext cx="6259962" cy="21431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1727755" y="3202353"/>
            <a:ext cx="5688462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52CC"/>
                </a:solidFill>
              </a:rPr>
              <a:t>Perguntas e Respostas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1727755" y="3582758"/>
            <a:ext cx="5688462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942" dirty="0">
                <a:solidFill>
                  <a:srgbClr val="2C3E50"/>
                </a:solidFill>
              </a:rPr>
              <a:t>Estamos abertos a dúvidas, sugestões e discussões sobre o projeto, metodologia e resultados.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1955267" y="4502851"/>
            <a:ext cx="523346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i="1" dirty="0">
                <a:solidFill>
                  <a:srgbClr val="2C3E50"/>
                </a:solidFill>
              </a:rPr>
              <a:t>Classificação de Tomografias Computadorizadas para Detecção de COVID-19 Utilizando Redes Neurais Convolucionais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1365</Words>
  <Application>Microsoft Office PowerPoint</Application>
  <PresentationFormat>Apresentação na tela (16:9)</PresentationFormat>
  <Paragraphs>179</Paragraphs>
  <Slides>14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Guilherme David Niza</cp:lastModifiedBy>
  <cp:revision>3</cp:revision>
  <dcterms:created xsi:type="dcterms:W3CDTF">2025-12-15T16:47:53Z</dcterms:created>
  <dcterms:modified xsi:type="dcterms:W3CDTF">2025-12-15T20:11:50Z</dcterms:modified>
</cp:coreProperties>
</file>